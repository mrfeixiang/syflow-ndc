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6366F1"/>
                </a:solidFill>
                <a:latin typeface="Malgun Gothic"/>
              </a:defRPr>
            </a:pPr>
            <a:r>
              <a:t>SyFlow NDC Go/No-Go 플랫폼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99AA"/>
                </a:solidFill>
                <a:latin typeface="Malgun Gothic"/>
              </a:defRPr>
            </a:pPr>
            <a:r>
              <a:t>나노바디 약물 접합체 개발을 위한 출처추적 기반 의사결정 프레임워크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Malgun Gothic"/>
              </a:defRPr>
            </a:pPr>
            <a:r>
              <a:t>스탠포드 Virtual Biotech의 검토-감사 패턴 적용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8ECF1"/>
                </a:solidFill>
                <a:latin typeface="Malgun Gothic"/>
              </a:defRPr>
            </a:pPr>
            <a:r>
              <a:t>타겟: EGFRvIII (파일럿) · TAK1 · RhoA · PNPLA3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9AA"/>
                </a:solidFill>
                <a:latin typeface="Malgun Gothic"/>
              </a:defRPr>
            </a:pPr>
            <a:r>
              <a:t>RTX 5080 GPU + Claude API · 2026년 10월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Malgun Gothic"/>
              </a:defRPr>
            </a:pPr>
            <a:r>
              <a:t>에이전트 아키텍처</a:t>
            </a:r>
          </a:p>
        </p:txBody>
      </p:sp>
      <p:pic>
        <p:nvPicPr>
          <p:cNvPr id="3" name="Picture 2" descr="agen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"/>
            <a:ext cx="11612880" cy="6217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Malgun Gothic"/>
              </a:defRPr>
            </a:pPr>
            <a:r>
              <a:t>게이트 워크플로우</a:t>
            </a:r>
          </a:p>
        </p:txBody>
      </p:sp>
      <p:pic>
        <p:nvPicPr>
          <p:cNvPr id="3" name="Picture 2" descr="gate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"/>
            <a:ext cx="11612880" cy="6217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Malgun Gothic"/>
              </a:defRPr>
            </a:pPr>
            <a:r>
              <a:t>타겟 포트폴리오</a:t>
            </a:r>
          </a:p>
        </p:txBody>
      </p:sp>
      <p:pic>
        <p:nvPicPr>
          <p:cNvPr id="3" name="Picture 2" descr="target_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"/>
            <a:ext cx="11612880" cy="6217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Malgun Gothic"/>
              </a:defRPr>
            </a:pPr>
            <a:r>
              <a:t>EGFRvIII 파일럿 프로토콜</a:t>
            </a:r>
          </a:p>
        </p:txBody>
      </p:sp>
      <p:pic>
        <p:nvPicPr>
          <p:cNvPr id="3" name="Picture 2" descr="egfrviii_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"/>
            <a:ext cx="11612880" cy="6217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Malgun Gothic"/>
              </a:defRPr>
            </a:pPr>
            <a:r>
              <a:t>GPU vs API 실행 옵션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5577840" cy="3200400"/>
          </a:xfrm>
          <a:prstGeom prst="round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Malgun Gothic"/>
              </a:defRPr>
            </a:pPr>
            <a:r>
              <a:t>옵션 A: RTX 5080 (로컨 GPU)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Malgun Gothic"/>
              </a:defRPr>
            </a:pPr>
            <a:r>
              <a:t>• RFdiffusion / RFOptimization 바인더 생성 (CUDA sm_120)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Malgun Gothic"/>
              </a:defRPr>
            </a:pPr>
            <a:r>
              <a:t>• LigandMPNN 시퀀스 설계 (기존 rhoa_pipeline)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Malgun Gothic"/>
              </a:defRPr>
            </a:pPr>
            <a:r>
              <a:t>• Boltz-2 / Nesso 구조 예측 및 도킹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Malgun Gothic"/>
              </a:defRPr>
            </a:pPr>
            <a:r>
              <a:t>• GNINA 분자 도킹 및 재스코어링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Malgun Gothic"/>
              </a:defRPr>
            </a:pPr>
            <a:r>
              <a:t>• ESMFold / ESM-2 시퀀스 임베딩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Malgun Gothic"/>
              </a:defRPr>
            </a:pPr>
            <a:r>
              <a:t>• 로컨 추론: ~16 GB VRAM, 단일 사슬 VHH 모델 적합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Malgun Gothic"/>
              </a:defRPr>
            </a:pPr>
            <a:r>
              <a:t>• 배치 처리: 야간 실행 후 SyFlow DMTA에 결과 전달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05840"/>
            <a:ext cx="5577840" cy="3200400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0515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Malgun Gothic"/>
              </a:defRPr>
            </a:pPr>
            <a:r>
              <a:t>옵션 B: Claude API (에이전트 오케스트레이션)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Malgun Gothic"/>
              </a:defRPr>
            </a:pPr>
            <a:r>
              <a:t>• CSO 에이전트 오케스트레이션 (Sonnet 4.6 — 계획, 배치, 종합)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7451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Malgun Gothic"/>
              </a:defRPr>
            </a:pPr>
            <a:r>
              <a:t>• 전문가 에이전트: 타겟, 나노바디, 전달, 접합, 안전성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40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Malgun Gothic"/>
              </a:defRPr>
            </a:pPr>
            <a:r>
              <a:t>• 과학 심사관 (Haiku 4.5 — 비용 효율적 QA)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06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Malgun Gothic"/>
              </a:defRPr>
            </a:pPr>
            <a:r>
              <a:t>• MCP 데이터 도구: Open Targets, PubMed, ChEMBL, Clinical Trials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71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Malgun Gothic"/>
              </a:defRPr>
            </a:pPr>
            <a:r>
              <a:t>• 증거 수집, 문헌 검토, 경쟁 정보 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37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Malgun Gothic"/>
              </a:defRPr>
            </a:pPr>
            <a:r>
              <a:t>• 게이트 평가: 주장 기록, 출처 추적, 감사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03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CF1"/>
                </a:solidFill>
                <a:latin typeface="Malgun Gothic"/>
              </a:defRPr>
            </a:pPr>
            <a:r>
              <a:t>• 폐쇄형 DMTA: 예측 → 실험 → 피드백 → 다음 사이클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434840"/>
            <a:ext cx="11430000" cy="502920"/>
          </a:xfrm>
          <a:prstGeom prst="roundRect">
            <a:avLst/>
          </a:prstGeom>
          <a:solidFill>
            <a:srgbClr val="3B82F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480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B82F6"/>
                </a:solidFill>
                <a:latin typeface="Malgun Gothic"/>
              </a:defRPr>
            </a:pPr>
            <a:r>
              <a:t>통합 워크플로우: GPU가 후보물질 생성 → API 에이전트가 검증 → GPU 테스트 → API 감사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9AA"/>
                </a:solidFill>
                <a:latin typeface="Malgun Gothic"/>
              </a:defRPr>
            </a:pPr>
            <a:r>
              <a:t>GPU (SyFlow Nano): RFdiffusion이 VHH 바인더 설계 → LigandMPNN이 시퀀스 최적화 → Boltz-2가 구조 예측 → GNINA가 결합 스코어링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40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9AA"/>
                </a:solidFill>
                <a:latin typeface="Malgun Gothic"/>
              </a:defRPr>
            </a:pPr>
            <a:r>
              <a:t>API (SyFlow Agents): CSO가 계산 결과 검토 → 전문가가 문헌/임상 증거 수집 → 심사관이 주장 감사 → 출처추적과 함께 게이트 결정 기록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Malgun Gothic"/>
              </a:defRPr>
            </a:pPr>
            <a:r>
              <a:t>할 일 목록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algun Gothic"/>
              </a:defRPr>
            </a:pPr>
            <a:r>
              <a:t>1단계 — 인프라 구축 (1주차)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.env에 ANTHROPIC_API_KEY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conda env create -f environment.yml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64207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RTX 5080 CUDA 확인: torch.cuda.get_device_name(0)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sm_120 PyTorch nightly (cu128)로 RFdiffusion 설치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실행: python setup_mcp.py → mcp_config.json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871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테스트: python run_syflow.py validate --target egfrviii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34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algun Gothic"/>
              </a:defRPr>
            </a:pPr>
            <a:r>
              <a:t>2단계 — EGFRvIII 파일럿 (2-4주차)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729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G0 게이트 실행: python run_syflow.py gate --target egfrviii --gate G0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472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GPU: RFdiffusion → EGFRvIII VHH 후보물질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216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GPU: LigandMPNN → 바인더 시퀀스 최적화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959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GPU: Boltz-2 → VHH-EGFRvIII 복합체 구조 예측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702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GPU: GNINA → 결합 포즈 스코어링, 후보물질 순위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445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실험 전 SyFlow DMTA에 예측 동결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188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API: Claude 에이전트로 전체 검증 실행 (전체 게이트)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932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에이전트 예측과 34E5 참조 데이터 비교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777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3단계 — 다중 타겟 확장 (5-8주차)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1155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TAK1: TROP2/CLDN18.2 VHH 후보물질 탐색 (GPU)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3898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TAK1: API 에이전트로 간접 NDC 가능성 평가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664207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RhoA: LigandMPNN 설계를 NDC 맥락으로 확장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9385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RhoA: API 에이전트로 EphA2/CXCR4 타겟팅 평가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2128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PNPLA3: NDC에 대한 No-Go 확인 (API 게이트 평가)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4871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PNPLA3: 저분자 파이프라인으로 전환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761487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교차 타겟: 게이트 결과 비교, 임계값 보정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063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Malgun Gothic"/>
              </a:defRPr>
            </a:pPr>
            <a:r>
              <a:t>4단계 — 폐쇄형 DMTA (9-12주차)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4015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습식 실험 결과를 SyFlow 주장에 입력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6758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심사관: 어떤 예측이 생존/실패했는가?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9502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측정 데이터 + ELN 참조로 도시에 업데이트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2245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새로운 증거로 게이트 평가 재실행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988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감사 추적과 함께 첫 번째 완전한 DMTA 루프 기록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7731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회고: 이전 실행 재생, 예측 정확도 평가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0474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CF1"/>
                </a:solidFill>
                <a:latin typeface="Malgun Gothic"/>
              </a:defRPr>
            </a:pPr>
            <a:r>
              <a:t>☐ 출판: 의사결정 프레임워크 및 파일럿 결과 문서화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1264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99AA"/>
                </a:solidFill>
                <a:latin typeface="Malgun Gothic"/>
              </a:defRPr>
            </a:pPr>
            <a:r>
              <a:t>RTX 5080: 16 GB VRAM · sm_120 · PyTorch nightly cu128 · 단일 사슬 VHH 설계 + 도킹에 충분 · 다중 사슬 복합체는 배치 분할 필요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Malgun Gothic"/>
              </a:defRPr>
            </a:pPr>
            <a:r>
              <a:t>핵심 설계 결정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73152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t>증거 계층이 에이전트 수보다 중요하다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1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Malgun Gothic"/>
              </a:defRPr>
            </a:pPr>
            <a:r>
              <a:t>모델 점수는 실험을 대체할 수 없다. 게이트 임계값은 실험 전에 설정한다.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73152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Malgun Gothic"/>
              </a:defRPr>
            </a:pPr>
            <a:r>
              <a:t>올바른 No-Go도 성공이다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Malgun Gothic"/>
              </a:defRPr>
            </a:pPr>
            <a:r>
              <a:t>PNPLA3은 G0에서 실패해야 한다. ABT-414는 WT EGFR 교차반응이 ADC 프로그램을 죽인다는 것을 가르쳐준다.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80360"/>
            <a:ext cx="73152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Malgun Gothic"/>
              </a:defRPr>
            </a:pPr>
            <a:r>
              <a:t>출처추적은 실행 기록에서, 자기보고가 아닌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Malgun Gothic"/>
              </a:defRPr>
            </a:pPr>
            <a:r>
              <a:t>트레이스 기반 귀속. 에이전트는 자신의 작업을 잘못 귀속할 수 없다. SHA-256 매니페스트.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94760"/>
            <a:ext cx="73152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94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algun Gothic"/>
              </a:defRPr>
            </a:pPr>
            <a:r>
              <a:t>GPU + API = 폐쇄형 루프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Malgun Gothic"/>
              </a:defRPr>
            </a:pPr>
            <a:r>
              <a:t>GPU가 후보물질을 생성하고 (RFdiffusion → LigandMPNN → Boltz-2 → GNINA), API 에이전트가 검증, 감사, 결정한다.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09160"/>
            <a:ext cx="73152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709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Malgun Gothic"/>
              </a:defRPr>
            </a:pPr>
            <a:r>
              <a:t>작업의 단위는 도시에이다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74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Malgun Gothic"/>
              </a:defRPr>
            </a:pPr>
            <a:r>
              <a:t>적응증 × 항원 × VHH × 접합 × 링커-페이로드 × 배치. 도시에당 하나의 결정.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623560"/>
            <a:ext cx="73152" cy="64008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623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Malgun Gothic"/>
              </a:defRPr>
            </a:pPr>
            <a:r>
              <a:t>심사관은 쓸 수 없고, CSO는 쿼리할 수 없다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9AA"/>
                </a:solidFill>
                <a:latin typeface="Malgun Gothic"/>
              </a:defRPr>
            </a:pPr>
            <a:r>
              <a:t>강제 분리. 심사관은 읽기 전용. CSO는 모든 분석을 전문가에게 위임한다.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